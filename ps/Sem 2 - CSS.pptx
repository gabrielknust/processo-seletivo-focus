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93A3A"/>
    <a:srgbClr val="96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1E462-64D3-4A21-8C5C-4A36EC923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6E0C9E6-73C3-49E0-8109-2B178604C5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C151C10-9043-4A16-B111-5763ED5F1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BE56-6773-49CA-B8E5-089E7D32C300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5006C5C-6383-4072-8359-051306D39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D1BDB68-AFE8-4C87-9699-E337B7F07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7F97A-7DE4-4FBF-81EF-BDEE960E659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9834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595B9A-AC9F-44E4-8B42-11F0541D6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A03034-7FC7-47CD-B0BB-CEB132FE3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9001A07-A936-46F4-8F0E-E9866411C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BE56-6773-49CA-B8E5-089E7D32C300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4FBD8A4-D68E-4E93-B2A0-CCE8388CE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96EB851-7DDC-4C53-B8EF-8181E5A5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7F97A-7DE4-4FBF-81EF-BDEE960E659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8571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0567AD-7665-4C90-B4D2-AF5B8038C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4523E43-C55A-423C-8A04-331F74D3C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6370998-548F-4FAB-9228-75CE6B717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BE56-6773-49CA-B8E5-089E7D32C300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A82B82-5664-4512-B47F-D82CB2C08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3F83E2F-6F1B-4B65-97C0-5DDD1017A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7F97A-7DE4-4FBF-81EF-BDEE960E659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7871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8EB424-F822-499A-937E-2D591C19D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B452A70-991F-469E-A333-5325A96034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87EFCD1-F683-44B3-B884-DFFB60A81E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4EBFB44-1C37-463B-903E-3258BCED9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BE56-6773-49CA-B8E5-089E7D32C300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46D8DA4-8246-4357-BF69-C62AA7687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3FBA7AE-7C11-4AAA-AAF5-FB6A51575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7F97A-7DE4-4FBF-81EF-BDEE960E659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2046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C7792A-24FF-4CDA-924F-A1796B80F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C322029-22DB-4DA4-8AA9-BB2BE21876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8F7AE19-A59E-4216-97F9-D56788660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D2F83AA-C61B-4927-A7C6-12A4E825A3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80C359C-C0AC-4334-9B92-B0E4F48013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1F3515B-D6DF-4A85-B791-B5B002BD7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BE56-6773-49CA-B8E5-089E7D32C300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E0A4EF0-9855-4B77-9066-E5C34692E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CB87B85C-178B-436D-8408-7B2C8FAE9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7F97A-7DE4-4FBF-81EF-BDEE960E659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520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43CFB5-1719-4C20-8BBE-ED1A01B75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A27D14C-08CD-4D13-B3ED-60EECF6D0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BE56-6773-49CA-B8E5-089E7D32C300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23A8547-35B5-41D1-AB73-F5A069C8A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6E03658-BC61-4DAA-A9EE-6444B023C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7F97A-7DE4-4FBF-81EF-BDEE960E659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2576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224E30A-3652-4A78-8549-4E27D466F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BE56-6773-49CA-B8E5-089E7D32C300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6BFA06B-3FEC-4EBD-9E91-C4E35DB7C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31A35F-8DD1-499E-B411-B763D17E0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7F97A-7DE4-4FBF-81EF-BDEE960E659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953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90D368-50D1-4809-B944-265F84FF8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F0633F-7B13-4794-9F0A-C21FC9362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FF80F7F-8AA1-4370-988E-E6A1014D7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0771511-CC9C-4C34-922B-823DF506A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BE56-6773-49CA-B8E5-089E7D32C300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987376C-D1A1-4544-A361-3F38C2995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39C0064-811E-45CE-BE87-8490378CD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7F97A-7DE4-4FBF-81EF-BDEE960E659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7607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D9A692-D8BA-441C-A70E-B5163DDF2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F8D9BD7-8AD2-452D-8756-F249BCD472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964C336-8D1F-4149-AF67-6142A73490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75961E6-9513-46FE-B87A-45B1272E8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BE56-6773-49CA-B8E5-089E7D32C300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EC388F2-4D6D-4126-809E-2B823C4C3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738E6DA-4524-400F-9B38-1D6F5FD57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7F97A-7DE4-4FBF-81EF-BDEE960E659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9041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143A5C-0C41-4C31-8844-C09AFA42D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9F4322C-66BB-4503-B41E-FA1A75A32B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8F4DC-90C9-4B78-A1B8-188509A2B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BE56-6773-49CA-B8E5-089E7D32C300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4CFDB2-B5A8-4972-B2B1-E012A225C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CDBD5E3-39C5-434B-9EB4-37AB329C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7F97A-7DE4-4FBF-81EF-BDEE960E659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4016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F9E5A50-7171-40FA-AEA6-12AD115DD2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BC953F9-4A6D-46DB-8D17-8B70EA801E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B1A0E44-6A18-4C51-B6A7-6FD9128CD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BE56-6773-49CA-B8E5-089E7D32C300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ED1F16A-042E-4D3B-BA7C-23FAD9DBC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60E5D4C-CE25-4F10-90D6-F7D65DFE7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7F97A-7DE4-4FBF-81EF-BDEE960E659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592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2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7AC8A31-43F0-47BB-A83B-EF8B862DE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75D3F56-DDA0-440B-B68C-CB0B81DE81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BD50EAA-28DC-40B2-A643-A9A2F5E8AB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E2BE56-6773-49CA-B8E5-089E7D32C300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BC5BEE6-D394-47CB-B77A-52FA75388E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26AD54-1CAE-4E6D-92CD-EA12564AAF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7F97A-7DE4-4FBF-81EF-BDEE960E659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8204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D83154-7F24-48CB-98A8-215864A6A7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83541"/>
            <a:ext cx="9144000" cy="2387600"/>
          </a:xfrm>
        </p:spPr>
        <p:txBody>
          <a:bodyPr>
            <a:normAutofit/>
          </a:bodyPr>
          <a:lstStyle/>
          <a:p>
            <a:r>
              <a:rPr lang="pt-BR" dirty="0">
                <a:latin typeface="Aileron" panose="00000500000000000000" pitchFamily="50" charset="0"/>
              </a:rPr>
              <a:t>Processo seletivo -</a:t>
            </a:r>
            <a:br>
              <a:rPr lang="pt-BR" dirty="0">
                <a:latin typeface="Aileron" panose="00000500000000000000" pitchFamily="50" charset="0"/>
              </a:rPr>
            </a:br>
            <a:r>
              <a:rPr lang="pt-BR" dirty="0">
                <a:latin typeface="Aileron" panose="00000500000000000000" pitchFamily="50" charset="0"/>
              </a:rPr>
              <a:t>Semana 2 – HTML/CSS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05038C9-90F1-4C16-9395-4266E12B8F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183" y="501982"/>
            <a:ext cx="9497634" cy="2178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149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1CEA45-DD09-4EBF-9F0E-30A8B1889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latin typeface="Aileron" panose="00000500000000000000" pitchFamily="50" charset="0"/>
              </a:rPr>
              <a:t>O que é o CSS?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9AB8AC-22EF-4F1C-99F4-D16A54F79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0" i="0" dirty="0" err="1"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Cascading</a:t>
            </a:r>
            <a:r>
              <a:rPr lang="pt-BR" b="0" i="0" dirty="0"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 </a:t>
            </a:r>
            <a:r>
              <a:rPr lang="pt-BR" b="0" i="0" dirty="0" err="1"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Style</a:t>
            </a:r>
            <a:r>
              <a:rPr lang="pt-BR" b="0" i="0" dirty="0"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 </a:t>
            </a:r>
            <a:r>
              <a:rPr lang="pt-BR" b="0" i="0" dirty="0" err="1"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Sheets</a:t>
            </a:r>
            <a:endParaRPr lang="pt-BR" b="0" i="0" dirty="0">
              <a:effectLst/>
              <a:latin typeface="Clear Sans" panose="020B0503030202020304" pitchFamily="34" charset="0"/>
              <a:cs typeface="Clear Sans" panose="020B0503030202020304" pitchFamily="34" charset="0"/>
            </a:endParaRPr>
          </a:p>
          <a:p>
            <a:r>
              <a:rPr lang="pt-BR" dirty="0">
                <a:latin typeface="Clear Sans" panose="020B0503030202020304" pitchFamily="34" charset="0"/>
                <a:ea typeface="Cascadia Code" panose="020B0609020000020004" pitchFamily="49" charset="0"/>
                <a:cs typeface="Clear Sans" panose="020B0503030202020304" pitchFamily="34" charset="0"/>
              </a:rPr>
              <a:t>https://www.w3schools.com/css/</a:t>
            </a:r>
          </a:p>
        </p:txBody>
      </p:sp>
      <p:pic>
        <p:nvPicPr>
          <p:cNvPr id="4" name="Picture 2" descr="Os 41 Melhores Frameworks CSS">
            <a:extLst>
              <a:ext uri="{FF2B5EF4-FFF2-40B4-BE49-F238E27FC236}">
                <a16:creationId xmlns:a16="http://schemas.microsoft.com/office/drawing/2014/main" id="{873D2468-C47B-48A8-B7A6-66CECCE897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228975"/>
            <a:ext cx="4486275" cy="2523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 que é CSS? Guia Básico para Iniciantes">
            <a:extLst>
              <a:ext uri="{FF2B5EF4-FFF2-40B4-BE49-F238E27FC236}">
                <a16:creationId xmlns:a16="http://schemas.microsoft.com/office/drawing/2014/main" id="{D2973487-1E01-4110-86BE-5AF39A7B4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1" y="3211513"/>
            <a:ext cx="5257800" cy="2540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0953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1CEA45-DD09-4EBF-9F0E-30A8B1889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latin typeface="Aileron" panose="00000500000000000000" pitchFamily="50" charset="0"/>
              </a:rPr>
              <a:t>Sintaxe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9AB8AC-22EF-4F1C-99F4-D16A54F79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0" i="0" dirty="0"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 </a:t>
            </a:r>
            <a:r>
              <a:rPr lang="pt-BR" dirty="0" err="1">
                <a:solidFill>
                  <a:srgbClr val="966666"/>
                </a:solidFill>
                <a:latin typeface="Clear Sans" panose="020B0503030202020304" pitchFamily="34" charset="0"/>
                <a:cs typeface="Clear Sans" panose="020B0503030202020304" pitchFamily="34" charset="0"/>
              </a:rPr>
              <a:t>S</a:t>
            </a:r>
            <a:r>
              <a:rPr lang="pt-BR" b="0" i="0" dirty="0" err="1">
                <a:solidFill>
                  <a:srgbClr val="966666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elector</a:t>
            </a:r>
            <a:r>
              <a:rPr lang="pt-BR" b="0" i="0" dirty="0">
                <a:solidFill>
                  <a:srgbClr val="A52A2A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 </a:t>
            </a:r>
            <a:r>
              <a:rPr lang="pt-BR" b="0" i="0" dirty="0">
                <a:solidFill>
                  <a:srgbClr val="000000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{</a:t>
            </a:r>
          </a:p>
          <a:p>
            <a:pPr marL="0" indent="0">
              <a:buNone/>
            </a:pPr>
            <a:r>
              <a:rPr lang="pt-BR" b="0" i="0" dirty="0">
                <a:solidFill>
                  <a:srgbClr val="FF0000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	</a:t>
            </a:r>
            <a:r>
              <a:rPr lang="pt-BR" b="0" i="0" dirty="0" err="1">
                <a:solidFill>
                  <a:srgbClr val="B93A3A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property</a:t>
            </a:r>
            <a:r>
              <a:rPr lang="pt-BR" b="0" i="0" dirty="0">
                <a:solidFill>
                  <a:srgbClr val="000000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:</a:t>
            </a:r>
            <a:r>
              <a:rPr lang="pt-BR" b="0" i="0" dirty="0">
                <a:solidFill>
                  <a:srgbClr val="0000CD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 </a:t>
            </a:r>
            <a:r>
              <a:rPr lang="pt-BR" b="0" i="0" dirty="0" err="1">
                <a:solidFill>
                  <a:srgbClr val="0000CD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value</a:t>
            </a:r>
            <a:r>
              <a:rPr lang="pt-BR" b="0" i="0" dirty="0">
                <a:solidFill>
                  <a:srgbClr val="000000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;</a:t>
            </a:r>
          </a:p>
          <a:p>
            <a:pPr marL="0" indent="0">
              <a:buNone/>
            </a:pPr>
            <a:r>
              <a:rPr lang="pt-BR" dirty="0">
                <a:solidFill>
                  <a:srgbClr val="000000"/>
                </a:solidFill>
                <a:latin typeface="Clear Sans" panose="020B0503030202020304" pitchFamily="34" charset="0"/>
                <a:cs typeface="Clear Sans" panose="020B0503030202020304" pitchFamily="34" charset="0"/>
              </a:rPr>
              <a:t>    </a:t>
            </a:r>
            <a:r>
              <a:rPr lang="pt-BR" b="0" i="0" dirty="0">
                <a:solidFill>
                  <a:srgbClr val="000000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} </a:t>
            </a:r>
          </a:p>
          <a:p>
            <a:r>
              <a:rPr lang="pt-BR" b="0" i="0" dirty="0" err="1"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Selector</a:t>
            </a:r>
            <a:r>
              <a:rPr lang="pt-BR" b="0" i="0" dirty="0"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: Elementos do </a:t>
            </a:r>
            <a:r>
              <a:rPr lang="pt-BR" b="0" i="0" dirty="0" err="1"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html</a:t>
            </a:r>
            <a:r>
              <a:rPr lang="pt-BR" b="0" i="0" dirty="0"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 que receberão as propriedades que estão dentro das chaves. 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Pode ser uma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tag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, uma classe ou um id. </a:t>
            </a:r>
          </a:p>
          <a:p>
            <a:r>
              <a:rPr lang="pt-BR" b="0" i="0" dirty="0" err="1"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Propridedade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: A propriedade do CSS que será implementada no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selector.Ex:color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.</a:t>
            </a:r>
          </a:p>
          <a:p>
            <a:r>
              <a:rPr lang="pt-BR" b="0" i="0" dirty="0" err="1"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Valor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:Valor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da propriedade.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Ex:blue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.</a:t>
            </a:r>
            <a:endParaRPr lang="pt-BR" b="0" i="0" dirty="0">
              <a:effectLst/>
              <a:latin typeface="Clear Sans" panose="020B0503030202020304" pitchFamily="34" charset="0"/>
              <a:cs typeface="Clear Sans" panose="020B05030302020203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8973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1227C2-0EA4-47A8-82FC-8CCAB374F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latin typeface="Aileron" panose="00000500000000000000" pitchFamily="50" charset="0"/>
                <a:ea typeface="Tahoma" panose="020B0604030504040204" pitchFamily="34" charset="0"/>
                <a:cs typeface="Tahoma" panose="020B0604030504040204" pitchFamily="34" charset="0"/>
              </a:rPr>
              <a:t>CSS interno, externo e </a:t>
            </a:r>
            <a:r>
              <a:rPr lang="pt-BR" dirty="0" err="1">
                <a:latin typeface="Aileron" panose="00000500000000000000" pitchFamily="50" charset="0"/>
                <a:ea typeface="Tahoma" panose="020B0604030504040204" pitchFamily="34" charset="0"/>
                <a:cs typeface="Tahoma" panose="020B0604030504040204" pitchFamily="34" charset="0"/>
              </a:rPr>
              <a:t>Inline</a:t>
            </a:r>
            <a:r>
              <a:rPr lang="pt-BR" dirty="0">
                <a:latin typeface="Aileron" panose="00000500000000000000" pitchFamily="50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33FDBC-0176-498F-8AE3-861C527DB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Interno: Escrito com a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tag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&lt;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style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&gt; dentro do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head</a:t>
            </a:r>
            <a:endParaRPr lang="pt-BR" dirty="0">
              <a:latin typeface="Clear Sans" panose="020B0503030202020304" pitchFamily="34" charset="0"/>
              <a:cs typeface="Clear Sans" panose="020B0503030202020304" pitchFamily="34" charset="0"/>
            </a:endParaRPr>
          </a:p>
          <a:p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Externo: Escrito em um arquivo separado com a extensão .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css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, linkado no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head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do arquivo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html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a partir da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tag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&lt;link&gt;.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Ex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:&lt;link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rel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=“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stylesheet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”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type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=“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text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/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css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”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href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=“estilo.css” &gt;</a:t>
            </a:r>
          </a:p>
          <a:p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Inline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: Escrito dentro da própria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tag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html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.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Ex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: &lt;p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style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:“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font-size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=16px;”&gt;</a:t>
            </a:r>
          </a:p>
        </p:txBody>
      </p:sp>
    </p:spTree>
    <p:extLst>
      <p:ext uri="{BB962C8B-B14F-4D97-AF65-F5344CB8AC3E}">
        <p14:creationId xmlns:p14="http://schemas.microsoft.com/office/powerpoint/2010/main" val="2912323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0DD123-EDF7-41F4-8125-6DF1C855F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>
                <a:latin typeface="Aileron" panose="00000500000000000000" pitchFamily="50" charset="0"/>
              </a:rPr>
              <a:t>Class</a:t>
            </a:r>
            <a:r>
              <a:rPr lang="pt-BR" dirty="0">
                <a:latin typeface="Aileron" panose="00000500000000000000" pitchFamily="50" charset="0"/>
              </a:rPr>
              <a:t> e ID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50F778-A684-44CC-8802-DFCD60D7B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Class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e Id são atributos que as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tags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do HTML podem receber e que servem pra referenciar essa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tag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ou esse conjunto de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tags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no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css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.</a:t>
            </a:r>
          </a:p>
          <a:p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Classes são referenciadas no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css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com .(nome da classe) e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ID’s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com #(nome do id).</a:t>
            </a:r>
          </a:p>
        </p:txBody>
      </p:sp>
    </p:spTree>
    <p:extLst>
      <p:ext uri="{BB962C8B-B14F-4D97-AF65-F5344CB8AC3E}">
        <p14:creationId xmlns:p14="http://schemas.microsoft.com/office/powerpoint/2010/main" val="3203856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0756A9-DCC4-43A4-8B9E-05F18988A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>
                <a:latin typeface="Aileron" panose="00000500000000000000" pitchFamily="50" charset="0"/>
              </a:rPr>
              <a:t>Pseudo-classes</a:t>
            </a:r>
            <a:r>
              <a:rPr lang="pt-BR" dirty="0">
                <a:latin typeface="Aileron" panose="00000500000000000000" pitchFamily="50" charset="0"/>
              </a:rPr>
              <a:t> </a:t>
            </a:r>
          </a:p>
        </p:txBody>
      </p:sp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AF93619F-971C-4069-870F-E516A090AC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Uma </a:t>
            </a:r>
            <a:r>
              <a:rPr lang="pt-BR" dirty="0" err="1">
                <a:latin typeface="Clear Sans" panose="020B0503030202020304" pitchFamily="34" charset="0"/>
                <a:cs typeface="Clear Sans" panose="020B0503030202020304" pitchFamily="34" charset="0"/>
              </a:rPr>
              <a:t>pseudo-classe</a:t>
            </a:r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 é usada pra definir um estado especial de um elemento.</a:t>
            </a:r>
          </a:p>
          <a:p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É usada pra estilizar elementos quando são focados, ou quando o mouse do usuário passa por cima desse elemento.</a:t>
            </a:r>
          </a:p>
          <a:p>
            <a:r>
              <a:rPr lang="pt-BR" dirty="0">
                <a:latin typeface="Clear Sans" panose="020B0503030202020304" pitchFamily="34" charset="0"/>
                <a:cs typeface="Clear Sans" panose="020B0503030202020304" pitchFamily="34" charset="0"/>
              </a:rPr>
              <a:t>Sintaxe: </a:t>
            </a:r>
            <a:r>
              <a:rPr lang="pt-BR" b="0" i="0" dirty="0" err="1">
                <a:solidFill>
                  <a:srgbClr val="966666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selector</a:t>
            </a:r>
            <a:r>
              <a:rPr lang="pt-BR" b="0" i="0" dirty="0" err="1">
                <a:solidFill>
                  <a:srgbClr val="A52A2A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:pseudo-class</a:t>
            </a:r>
            <a:r>
              <a:rPr lang="pt-BR" b="0" i="0" dirty="0">
                <a:solidFill>
                  <a:srgbClr val="A52A2A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 </a:t>
            </a:r>
            <a:r>
              <a:rPr lang="pt-BR" b="0" i="0" dirty="0">
                <a:solidFill>
                  <a:srgbClr val="000000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{</a:t>
            </a:r>
            <a:br>
              <a:rPr lang="pt-BR" b="0" i="0" dirty="0">
                <a:solidFill>
                  <a:srgbClr val="FF0000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</a:br>
            <a:r>
              <a:rPr lang="pt-BR" b="0" i="0" dirty="0">
                <a:solidFill>
                  <a:srgbClr val="FF0000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	</a:t>
            </a:r>
            <a:r>
              <a:rPr lang="pt-BR" b="0" i="0" dirty="0" err="1">
                <a:solidFill>
                  <a:srgbClr val="B93A3A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property</a:t>
            </a:r>
            <a:r>
              <a:rPr lang="pt-BR" b="0" i="0" dirty="0">
                <a:solidFill>
                  <a:srgbClr val="000000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:</a:t>
            </a:r>
            <a:r>
              <a:rPr lang="pt-BR" b="0" i="0" dirty="0">
                <a:solidFill>
                  <a:srgbClr val="0000CD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 </a:t>
            </a:r>
            <a:r>
              <a:rPr lang="pt-BR" b="0" i="0" dirty="0" err="1">
                <a:solidFill>
                  <a:srgbClr val="0000CD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value</a:t>
            </a:r>
            <a:r>
              <a:rPr lang="pt-BR" b="0" i="0" dirty="0">
                <a:solidFill>
                  <a:srgbClr val="000000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;</a:t>
            </a:r>
            <a:br>
              <a:rPr lang="pt-BR" b="0" i="0" dirty="0">
                <a:solidFill>
                  <a:srgbClr val="FF0000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</a:br>
            <a:r>
              <a:rPr lang="pt-BR" b="0" i="0" dirty="0">
                <a:solidFill>
                  <a:srgbClr val="000000"/>
                </a:solidFill>
                <a:effectLst/>
                <a:latin typeface="Clear Sans" panose="020B0503030202020304" pitchFamily="34" charset="0"/>
                <a:cs typeface="Clear Sans" panose="020B0503030202020304" pitchFamily="34" charset="0"/>
              </a:rPr>
              <a:t>}</a:t>
            </a:r>
          </a:p>
          <a:p>
            <a:r>
              <a:rPr lang="pt-BR" dirty="0" err="1">
                <a:solidFill>
                  <a:srgbClr val="000000"/>
                </a:solidFill>
                <a:latin typeface="Clear Sans" panose="020B0503030202020304" pitchFamily="34" charset="0"/>
                <a:cs typeface="Clear Sans" panose="020B0503030202020304" pitchFamily="34" charset="0"/>
              </a:rPr>
              <a:t>Ex</a:t>
            </a:r>
            <a:r>
              <a:rPr lang="pt-BR" dirty="0">
                <a:solidFill>
                  <a:srgbClr val="000000"/>
                </a:solidFill>
                <a:latin typeface="Clear Sans" panose="020B0503030202020304" pitchFamily="34" charset="0"/>
                <a:cs typeface="Clear Sans" panose="020B0503030202020304" pitchFamily="34" charset="0"/>
              </a:rPr>
              <a:t>: :</a:t>
            </a:r>
            <a:r>
              <a:rPr lang="pt-BR" dirty="0" err="1">
                <a:solidFill>
                  <a:srgbClr val="000000"/>
                </a:solidFill>
                <a:latin typeface="Clear Sans" panose="020B0503030202020304" pitchFamily="34" charset="0"/>
                <a:cs typeface="Clear Sans" panose="020B0503030202020304" pitchFamily="34" charset="0"/>
              </a:rPr>
              <a:t>hover</a:t>
            </a:r>
            <a:r>
              <a:rPr lang="pt-BR" dirty="0">
                <a:solidFill>
                  <a:srgbClr val="000000"/>
                </a:solidFill>
                <a:latin typeface="Clear Sans" panose="020B0503030202020304" pitchFamily="34" charset="0"/>
                <a:cs typeface="Clear Sans" panose="020B0503030202020304" pitchFamily="34" charset="0"/>
              </a:rPr>
              <a:t>,:</a:t>
            </a:r>
            <a:r>
              <a:rPr lang="pt-BR" dirty="0" err="1">
                <a:solidFill>
                  <a:srgbClr val="000000"/>
                </a:solidFill>
                <a:latin typeface="Clear Sans" panose="020B0503030202020304" pitchFamily="34" charset="0"/>
                <a:cs typeface="Clear Sans" panose="020B0503030202020304" pitchFamily="34" charset="0"/>
              </a:rPr>
              <a:t>focus</a:t>
            </a:r>
            <a:r>
              <a:rPr lang="pt-BR" dirty="0">
                <a:solidFill>
                  <a:srgbClr val="000000"/>
                </a:solidFill>
                <a:latin typeface="Clear Sans" panose="020B0503030202020304" pitchFamily="34" charset="0"/>
                <a:cs typeface="Clear Sans" panose="020B0503030202020304" pitchFamily="34" charset="0"/>
              </a:rPr>
              <a:t>,:</a:t>
            </a:r>
            <a:r>
              <a:rPr lang="pt-BR" dirty="0" err="1">
                <a:solidFill>
                  <a:srgbClr val="000000"/>
                </a:solidFill>
                <a:latin typeface="Clear Sans" panose="020B0503030202020304" pitchFamily="34" charset="0"/>
                <a:cs typeface="Clear Sans" panose="020B0503030202020304" pitchFamily="34" charset="0"/>
              </a:rPr>
              <a:t>visited</a:t>
            </a:r>
            <a:r>
              <a:rPr lang="pt-BR" dirty="0">
                <a:solidFill>
                  <a:srgbClr val="000000"/>
                </a:solidFill>
                <a:latin typeface="Clear Sans" panose="020B0503030202020304" pitchFamily="34" charset="0"/>
                <a:cs typeface="Clear Sans" panose="020B0503030202020304" pitchFamily="34" charset="0"/>
              </a:rPr>
              <a:t>.</a:t>
            </a:r>
            <a:endParaRPr lang="pt-BR" dirty="0">
              <a:latin typeface="Clear Sans" panose="020B0503030202020304" pitchFamily="34" charset="0"/>
              <a:cs typeface="Clear Sans" panose="020B05030302020203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263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5E6141-44BF-43C7-B564-2C5CB5FE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latin typeface="Aileron" panose="00000500000000000000" pitchFamily="50" charset="0"/>
              </a:rPr>
              <a:t>Exemplos de </a:t>
            </a:r>
            <a:r>
              <a:rPr lang="pt-BR" dirty="0" err="1">
                <a:latin typeface="Aileron" panose="00000500000000000000" pitchFamily="50" charset="0"/>
              </a:rPr>
              <a:t>css</a:t>
            </a:r>
            <a:endParaRPr lang="pt-BR" dirty="0">
              <a:latin typeface="Aileron" panose="00000500000000000000" pitchFamily="50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EF89018E-6FFC-4F27-B2AB-4B0AD6EA22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683981"/>
            <a:ext cx="2981741" cy="2438740"/>
          </a:xfr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D2D96C3-F796-4CF1-B38D-1AE6ECBFEF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668" y="3158332"/>
            <a:ext cx="3618664" cy="149003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B6B55AC-6AA6-43F3-9A7D-11141CE06A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0935" y="2683981"/>
            <a:ext cx="2309952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2283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1998</TotalTime>
  <Words>286</Words>
  <Application>Microsoft Office PowerPoint</Application>
  <PresentationFormat>Widescreen</PresentationFormat>
  <Paragraphs>24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Aileron</vt:lpstr>
      <vt:lpstr>Arial</vt:lpstr>
      <vt:lpstr>Calibri</vt:lpstr>
      <vt:lpstr>Calibri Light</vt:lpstr>
      <vt:lpstr>Clear Sans</vt:lpstr>
      <vt:lpstr>Tema do Office</vt:lpstr>
      <vt:lpstr>Processo seletivo - Semana 2 – HTML/CSS</vt:lpstr>
      <vt:lpstr>O que é o CSS?</vt:lpstr>
      <vt:lpstr>Sintaxe</vt:lpstr>
      <vt:lpstr>CSS interno, externo e Inline.</vt:lpstr>
      <vt:lpstr>Class e ID</vt:lpstr>
      <vt:lpstr>Pseudo-classes </vt:lpstr>
      <vt:lpstr>Exemplos de css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Processo seletivo Focus Consultoria – Cronograma</dc:title>
  <dc:creator>gabriel silva knust</dc:creator>
  <cp:lastModifiedBy>gabriel silva knust</cp:lastModifiedBy>
  <cp:revision>28</cp:revision>
  <dcterms:created xsi:type="dcterms:W3CDTF">2021-11-05T15:19:31Z</dcterms:created>
  <dcterms:modified xsi:type="dcterms:W3CDTF">2021-11-15T22:18:54Z</dcterms:modified>
</cp:coreProperties>
</file>