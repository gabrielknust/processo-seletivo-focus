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3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76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E462-64D3-4A21-8C5C-4A36EC923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0C9E6-73C3-49E0-8109-2B178604C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151C10-9043-4A16-B111-5763ED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006C5C-6383-4072-8359-051306D3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1BDB68-AFE8-4C87-9699-E337B7F0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83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95B9A-AC9F-44E4-8B42-11F0541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A03034-7FC7-47CD-B0BB-CEB132FE3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001A07-A936-46F4-8F0E-E9866411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FBD8A4-D68E-4E93-B2A0-CCE8388C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6EB851-7DDC-4C53-B8EF-8181E5A5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7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567AD-7665-4C90-B4D2-AF5B8038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523E43-C55A-423C-8A04-331F74D3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370998-548F-4FAB-9228-75CE6B71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A82B82-5664-4512-B47F-D82CB2C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F83E2F-6F1B-4B65-97C0-5DDD1017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87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EB424-F822-499A-937E-2D591C19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52A70-991F-469E-A333-5325A9603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7EFCD1-F683-44B3-B884-DFFB60A81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EBFB44-1C37-463B-903E-3258BCED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6D8DA4-8246-4357-BF69-C62AA768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BA7AE-7C11-4AAA-AAF5-FB6A5157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4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7792A-24FF-4CDA-924F-A1796B80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322029-22DB-4DA4-8AA9-BB2BE2187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F7AE19-A59E-4216-97F9-D56788660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2F83AA-C61B-4927-A7C6-12A4E825A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0C359C-C0AC-4334-9B92-B0E4F4801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F3515B-D6DF-4A85-B791-B5B002BD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0A4EF0-9855-4B77-9066-E5C34692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7B85C-178B-436D-8408-7B2C8FAE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2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CFB5-1719-4C20-8BBE-ED1A01B7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27D14C-08CD-4D13-B3ED-60EECF6D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3A8547-35B5-41D1-AB73-F5A069C8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E03658-BC61-4DAA-A9EE-6444B023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57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24E30A-3652-4A78-8549-4E27D466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BFA06B-3FEC-4EBD-9E91-C4E35DB7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31A35F-8DD1-499E-B411-B763D17E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95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0D368-50D1-4809-B944-265F84FF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0633F-7B13-4794-9F0A-C21FC936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F80F7F-8AA1-4370-988E-E6A1014D7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771511-CC9C-4C34-922B-823DF506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87376C-D1A1-4544-A361-3F38C299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9C0064-811E-45CE-BE87-8490378C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6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9A692-D8BA-441C-A70E-B5163DDF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8D9BD7-8AD2-452D-8756-F249BCD47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64C336-8D1F-4149-AF67-6142A734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5961E6-9513-46FE-B87A-45B1272E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C388F2-4D6D-4126-809E-2B823C4C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38E6DA-4524-400F-9B38-1D6F5FD5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04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43A5C-0C41-4C31-8844-C09AFA42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F4322C-66BB-4503-B41E-FA1A75A32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8F4DC-90C9-4B78-A1B8-188509A2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CFDB2-B5A8-4972-B2B1-E012A22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BD5E3-39C5-434B-9EB4-37AB329C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01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9E5A50-7171-40FA-AEA6-12AD115DD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C953F9-4A6D-46DB-8D17-8B70EA801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1A0E44-6A18-4C51-B6A7-6FD9128C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1F16A-042E-4D3B-BA7C-23FAD9DB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0E5D4C-CE25-4F10-90D6-F7D65DFE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59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AC8A31-43F0-47BB-A83B-EF8B862D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5D3F56-DDA0-440B-B68C-CB0B81DE8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D50EAA-28DC-40B2-A643-A9A2F5E8A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2BE56-6773-49CA-B8E5-089E7D32C300}" type="datetimeFigureOut">
              <a:rPr lang="pt-BR" smtClean="0"/>
              <a:t>26/11/2021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C5BEE6-D394-47CB-B77A-52FA75388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26AD54-1CAE-4E6D-92CD-EA12564AA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20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RaAMNjCFYw" TargetMode="External"/><Relationship Id="rId2" Type="http://schemas.openxmlformats.org/officeDocument/2006/relationships/hyperlink" Target="https://edisciplinas.usp.br/pluginfile.php/3243683/mod_resource/content/1/Aula%2011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outube.com/watch?v=usA8QKvEHWw" TargetMode="External"/><Relationship Id="rId4" Type="http://schemas.openxmlformats.org/officeDocument/2006/relationships/hyperlink" Target="https://www.youtube.com/watch?v=6ER9lWOk-c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83154-7F24-48CB-98A8-215864A6A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83541"/>
            <a:ext cx="9144000" cy="2387600"/>
          </a:xfrm>
        </p:spPr>
        <p:txBody>
          <a:bodyPr>
            <a:normAutofit/>
          </a:bodyPr>
          <a:lstStyle/>
          <a:p>
            <a:r>
              <a:rPr lang="pt-BR" dirty="0">
                <a:latin typeface="Aileron" panose="00000500000000000000" pitchFamily="50" charset="0"/>
              </a:rPr>
              <a:t>Processo seletivo -</a:t>
            </a:r>
            <a:br>
              <a:rPr lang="pt-BR" dirty="0">
                <a:latin typeface="Aileron" panose="00000500000000000000" pitchFamily="50" charset="0"/>
              </a:rPr>
            </a:br>
            <a:r>
              <a:rPr lang="pt-BR" dirty="0">
                <a:latin typeface="Aileron" panose="00000500000000000000" pitchFamily="50" charset="0"/>
              </a:rPr>
              <a:t>Semana 3 – BD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5038C9-90F1-4C16-9395-4266E12B8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183" y="501982"/>
            <a:ext cx="9497634" cy="21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4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Por que utilizar um banco de dados?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Segurança.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Espaço.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Manipulação dos dados.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Integração.</a:t>
            </a:r>
          </a:p>
          <a:p>
            <a:pPr marL="0" indent="0">
              <a:buNone/>
            </a:pP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3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O que é um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Linguagem de programação.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Criada pela IBM.</a:t>
            </a:r>
          </a:p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Mais utilizada mas existem outras bem famosas. 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Bem simples.</a:t>
            </a:r>
          </a:p>
          <a:p>
            <a:pPr marL="0" indent="0">
              <a:buNone/>
            </a:pP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368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Tipos de banco de dados.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Relacional.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Orientada a objetos.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Distribuido.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Warehouse.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NoSQL.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Gráficos.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OLTP.</a:t>
            </a:r>
          </a:p>
          <a:p>
            <a:pPr marL="0" indent="0">
              <a:buNone/>
            </a:pP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83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DBMS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DataBase Management System.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Sistema gerenciador de banco de dados.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MySql.</a:t>
            </a:r>
          </a:p>
        </p:txBody>
      </p:sp>
    </p:spTree>
    <p:extLst>
      <p:ext uri="{BB962C8B-B14F-4D97-AF65-F5344CB8AC3E}">
        <p14:creationId xmlns:p14="http://schemas.microsoft.com/office/powerpoint/2010/main" val="375446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Técnica de modelagem conceitual.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Diagrama de Entidade-Relacionamento (DER).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Entidade, relacionamento e atributos.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Entidade: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Partes do domínio. Podem ser Concretas ou Abstratas.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Representação gráfica (DER) : 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Propriedades: Atributos e Relacionamentos.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2FF06D-8E55-442B-8575-59BAF202B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049" y="4242486"/>
            <a:ext cx="1457528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8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Atributos: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Não são representados em um DER.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São os atributos que cada entidade tem.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Chave:</a:t>
            </a:r>
          </a:p>
          <a:p>
            <a:pPr lvl="2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Um conjunto de um ou mais atributos que distinguem uma entidade das outras.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Relacionamento: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Associações entre entidades.</a:t>
            </a:r>
          </a:p>
          <a:p>
            <a:pPr lvl="1"/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5F1BFC1-8E19-4BF6-AC4D-A101D01AD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705" y="5081435"/>
            <a:ext cx="6906589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18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Cardinalidade:</a:t>
            </a:r>
          </a:p>
          <a:p>
            <a:pPr lvl="2"/>
            <a:r>
              <a:rPr lang="pt-BR" dirty="0">
                <a:latin typeface="Clear Sans" panose="020B0503030202020304"/>
              </a:rPr>
              <a:t>Número de ocorrências de uma entidade associada a uma determinada ocorrência de entidade por um relacionamento.</a:t>
            </a:r>
          </a:p>
          <a:p>
            <a:pPr lvl="2"/>
            <a:r>
              <a:rPr lang="pt-BR" dirty="0"/>
              <a:t>Cardinalidade máxima e mínima.</a:t>
            </a:r>
          </a:p>
          <a:p>
            <a:pPr lvl="2"/>
            <a:r>
              <a:rPr lang="pt-BR" dirty="0">
                <a:latin typeface="Clear Sans" panose="020B0503030202020304"/>
                <a:cs typeface="Clear Sans" panose="020B0503030202020304" pitchFamily="34" charset="0"/>
              </a:rPr>
              <a:t>Máxima: 1 e muitos (n).</a:t>
            </a:r>
          </a:p>
          <a:p>
            <a:pPr lvl="2"/>
            <a:endParaRPr lang="pt-BR" dirty="0">
              <a:latin typeface="Clear Sans" panose="020B0503030202020304"/>
              <a:cs typeface="Clear Sans" panose="020B05030302020203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D9AED2-C034-46E1-9BCB-4E3EF6F5C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474" y="3246120"/>
            <a:ext cx="5995830" cy="347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0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704EC528-9C34-4212-AE71-836E83791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074" y="2290603"/>
            <a:ext cx="6639852" cy="2276793"/>
          </a:xfrm>
        </p:spPr>
      </p:pic>
    </p:spTree>
    <p:extLst>
      <p:ext uri="{BB962C8B-B14F-4D97-AF65-F5344CB8AC3E}">
        <p14:creationId xmlns:p14="http://schemas.microsoft.com/office/powerpoint/2010/main" val="1975216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pic>
        <p:nvPicPr>
          <p:cNvPr id="8" name="Marcador de Posição de Conteúdo 7">
            <a:extLst>
              <a:ext uri="{FF2B5EF4-FFF2-40B4-BE49-F238E27FC236}">
                <a16:creationId xmlns:a16="http://schemas.microsoft.com/office/drawing/2014/main" id="{CA1726F3-B32D-44E0-B1B6-902337C67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810" y="1690688"/>
            <a:ext cx="7192379" cy="4296375"/>
          </a:xfrm>
        </p:spPr>
      </p:pic>
    </p:spTree>
    <p:extLst>
      <p:ext uri="{BB962C8B-B14F-4D97-AF65-F5344CB8AC3E}">
        <p14:creationId xmlns:p14="http://schemas.microsoft.com/office/powerpoint/2010/main" val="255770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74C77389-2CAF-41FF-AF30-1D316C60C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95" y="1690688"/>
            <a:ext cx="7059010" cy="3972479"/>
          </a:xfrm>
        </p:spPr>
      </p:pic>
    </p:spTree>
    <p:extLst>
      <p:ext uri="{BB962C8B-B14F-4D97-AF65-F5344CB8AC3E}">
        <p14:creationId xmlns:p14="http://schemas.microsoft.com/office/powerpoint/2010/main" val="9990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EF32B9A-6F59-41A7-A3F3-CACD8B8D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>
                <a:latin typeface="Clear Sans"/>
              </a:rPr>
              <a:t>Cardinalidade Mínima:</a:t>
            </a:r>
          </a:p>
          <a:p>
            <a:pPr lvl="2"/>
            <a:r>
              <a:rPr lang="pt-BR" dirty="0">
                <a:latin typeface="Clear Sans"/>
              </a:rPr>
              <a:t>Cardinalidade 1(obrigatória) e Cardinalidade 0 (opcional)</a:t>
            </a:r>
          </a:p>
          <a:p>
            <a:r>
              <a:rPr lang="pt-BR" dirty="0">
                <a:latin typeface="Clear Sans"/>
              </a:rPr>
              <a:t>Identificação de Relacionamentos</a:t>
            </a:r>
          </a:p>
          <a:p>
            <a:pPr lvl="1"/>
            <a:r>
              <a:rPr lang="pt-BR" dirty="0">
                <a:latin typeface="Clear Sans"/>
              </a:rPr>
              <a:t>Em um relacionamento de muitos-para-muitos (n para n) é necessário a existencia de um atributo na relação para identificação.</a:t>
            </a:r>
          </a:p>
          <a:p>
            <a:pPr lvl="1"/>
            <a:endParaRPr lang="pt-BR" dirty="0">
              <a:latin typeface="Clear Sans"/>
            </a:endParaRPr>
          </a:p>
          <a:p>
            <a:pPr lvl="2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B1078EA-10CB-47B7-8219-B54616D9E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259" y="3879376"/>
            <a:ext cx="5963482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80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Modelo de Entidade-Relacionamento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EF32B9A-6F59-41A7-A3F3-CACD8B8D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/>
              </a:rPr>
              <a:t>Entidade fraca</a:t>
            </a:r>
          </a:p>
          <a:p>
            <a:pPr lvl="1"/>
            <a:r>
              <a:rPr lang="pt-BR" dirty="0">
                <a:latin typeface="Clear Sans"/>
              </a:rPr>
              <a:t>Depende de outra entidade para identificar uma ocorrência.</a:t>
            </a:r>
          </a:p>
          <a:p>
            <a:pPr lvl="1"/>
            <a:endParaRPr lang="pt-BR" dirty="0">
              <a:latin typeface="Clear Sans"/>
            </a:endParaRPr>
          </a:p>
          <a:p>
            <a:pPr lvl="2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B2EF1B-79A8-4B03-B97E-E40521410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284" y="3234424"/>
            <a:ext cx="684943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72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“Pé-de-galinha” (James Martin)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EF32B9A-6F59-41A7-A3F3-CACD8B8D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/>
              </a:rPr>
              <a:t>Relacionamentos são representados por linhas.</a:t>
            </a:r>
          </a:p>
          <a:p>
            <a:r>
              <a:rPr lang="pt-BR" dirty="0">
                <a:latin typeface="Clear Sans" panose="020B0503030202020304"/>
              </a:rPr>
              <a:t>Só relacionamentos binários.</a:t>
            </a:r>
          </a:p>
          <a:p>
            <a:r>
              <a:rPr lang="pt-BR" dirty="0">
                <a:latin typeface="Clear Sans" panose="020B0503030202020304"/>
              </a:rPr>
              <a:t>Cardinalidade:</a:t>
            </a:r>
          </a:p>
          <a:p>
            <a:pPr lvl="1"/>
            <a:r>
              <a:rPr lang="pt-BR" dirty="0">
                <a:latin typeface="Clear Sans" panose="020B0503030202020304"/>
              </a:rPr>
              <a:t>O simbolo mais próximo da entidade representa a cardinalidade máxima e o mais distante a cardinalidade mínima.</a:t>
            </a:r>
          </a:p>
          <a:p>
            <a:endParaRPr lang="pt-BR" dirty="0">
              <a:latin typeface="Clear Sans" panose="020B0503030202020304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6E3A8E-55AE-4570-B0D6-52EC151C4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668" y="4112539"/>
            <a:ext cx="5239481" cy="1952898"/>
          </a:xfrm>
          <a:prstGeom prst="rect">
            <a:avLst/>
          </a:prstGeom>
        </p:spPr>
      </p:pic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A62E07F8-10EA-477A-91FB-04788703B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959" y="4426908"/>
            <a:ext cx="1971950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31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 panose="00000500000000000000"/>
              </a:rPr>
              <a:t>“Pé-de-galinha” (James Martin)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1BFE73DD-DAA3-4243-B0D5-0C4EC4D20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7" y="2338235"/>
            <a:ext cx="5287113" cy="2181529"/>
          </a:xfr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2F5D8A8-2AFC-4D2A-AFA0-12B54E617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924" y="1614233"/>
            <a:ext cx="5544324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1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Organização dos dados para reduzir redundancia, aumentar a integridade e aumentar o desempenho.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Primeira forma normal: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A tabela deve incluir apenas valores indivisíveis(atômicos).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Existir uma chave primária.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Apenas um dado por coluna.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Não possui atributos multivalorados.</a:t>
            </a:r>
          </a:p>
        </p:txBody>
      </p:sp>
    </p:spTree>
    <p:extLst>
      <p:ext uri="{BB962C8B-B14F-4D97-AF65-F5344CB8AC3E}">
        <p14:creationId xmlns:p14="http://schemas.microsoft.com/office/powerpoint/2010/main" val="80654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B75FC70-B4E1-4A36-85A3-FC9A74AFA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5871"/>
            <a:ext cx="10515600" cy="4030845"/>
          </a:xfrm>
        </p:spPr>
      </p:pic>
    </p:spTree>
    <p:extLst>
      <p:ext uri="{BB962C8B-B14F-4D97-AF65-F5344CB8AC3E}">
        <p14:creationId xmlns:p14="http://schemas.microsoft.com/office/powerpoint/2010/main" val="3722384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0C06611E-747B-4DFC-8CE5-EF2AC7E88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69543"/>
            <a:ext cx="10515600" cy="3463502"/>
          </a:xfrm>
        </p:spPr>
      </p:pic>
    </p:spTree>
    <p:extLst>
      <p:ext uri="{BB962C8B-B14F-4D97-AF65-F5344CB8AC3E}">
        <p14:creationId xmlns:p14="http://schemas.microsoft.com/office/powerpoint/2010/main" val="2703085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Segunda forma normal: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Tem de estar na 1 forma normal.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Todos os atributos não chaves são funcionalmente dependentes de todas as partes da chave primária.</a:t>
            </a:r>
          </a:p>
        </p:txBody>
      </p:sp>
    </p:spTree>
    <p:extLst>
      <p:ext uri="{BB962C8B-B14F-4D97-AF65-F5344CB8AC3E}">
        <p14:creationId xmlns:p14="http://schemas.microsoft.com/office/powerpoint/2010/main" val="1615747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AAC40FE8-02E9-4500-ACBD-77BBE0915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2114"/>
            <a:ext cx="10515600" cy="3458359"/>
          </a:xfrm>
        </p:spPr>
      </p:pic>
    </p:spTree>
    <p:extLst>
      <p:ext uri="{BB962C8B-B14F-4D97-AF65-F5344CB8AC3E}">
        <p14:creationId xmlns:p14="http://schemas.microsoft.com/office/powerpoint/2010/main" val="1845760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8B62F60-769E-4C3B-98E7-8460E0856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F6445E2-F640-4E24-9EF2-8FC3A9E5C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68" y="1690688"/>
            <a:ext cx="11440664" cy="455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46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Terceira forma normal.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Deve estar na 2 forma normal.</a:t>
            </a:r>
          </a:p>
          <a:p>
            <a:pPr lvl="1"/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Não existirem dependências transitivas.</a:t>
            </a:r>
          </a:p>
          <a:p>
            <a:pPr lvl="1"/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607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pic>
        <p:nvPicPr>
          <p:cNvPr id="8" name="Marcador de Posição de Conteúdo 7">
            <a:extLst>
              <a:ext uri="{FF2B5EF4-FFF2-40B4-BE49-F238E27FC236}">
                <a16:creationId xmlns:a16="http://schemas.microsoft.com/office/drawing/2014/main" id="{8A1EFE6F-8350-4143-AF6C-ADD1CD438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0102"/>
            <a:ext cx="10515600" cy="3862383"/>
          </a:xfrm>
        </p:spPr>
      </p:pic>
    </p:spTree>
    <p:extLst>
      <p:ext uri="{BB962C8B-B14F-4D97-AF65-F5344CB8AC3E}">
        <p14:creationId xmlns:p14="http://schemas.microsoft.com/office/powerpoint/2010/main" val="3977366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Normalização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B2CDCD-8992-4FB2-BB4D-74043A820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44" y="1809957"/>
            <a:ext cx="11707859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4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ileron"/>
              </a:rPr>
              <a:t>Links: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  <a:hlinkClick r:id="rId2"/>
              </a:rPr>
              <a:t>https://edisciplinas.usp.br/pluginfile.php/3243683/mod_resource/content/1/Aula%2011.pdf</a:t>
            </a:r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  <a:hlinkClick r:id="rId3"/>
              </a:rPr>
              <a:t>https://www.youtube.com/watch?v=eRaAMNjCFYw</a:t>
            </a:r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  <a:hlinkClick r:id="rId4"/>
              </a:rPr>
              <a:t>https://www.youtube.com/watch?v=6ER9lWOk-cY</a:t>
            </a:r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  <a:hlinkClick r:id="rId5"/>
              </a:rPr>
              <a:t>www.youtube.com/watch?v=usA8QKvEHWw</a:t>
            </a:r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5728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</TotalTime>
  <Words>480</Words>
  <Application>Microsoft Office PowerPoint</Application>
  <PresentationFormat>Ecrã Panorâmico</PresentationFormat>
  <Paragraphs>87</Paragraphs>
  <Slides>25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25</vt:i4>
      </vt:variant>
    </vt:vector>
  </HeadingPairs>
  <TitlesOfParts>
    <vt:vector size="31" baseType="lpstr">
      <vt:lpstr>Aileron</vt:lpstr>
      <vt:lpstr>Arial</vt:lpstr>
      <vt:lpstr>Calibri</vt:lpstr>
      <vt:lpstr>Calibri Light</vt:lpstr>
      <vt:lpstr>Clear Sans</vt:lpstr>
      <vt:lpstr>Tema do Office</vt:lpstr>
      <vt:lpstr>Processo seletivo - Semana 3 – BD</vt:lpstr>
      <vt:lpstr>Por que utilizar um banco de dados?</vt:lpstr>
      <vt:lpstr>O que é um SQL</vt:lpstr>
      <vt:lpstr>Tipos de banco de dados.</vt:lpstr>
      <vt:lpstr>DBMS</vt:lpstr>
      <vt:lpstr>Modelo de Entidade-Relacionamento</vt:lpstr>
      <vt:lpstr>Modelo de Entidade-Relacionamento</vt:lpstr>
      <vt:lpstr>Modelo de Entidade-Relacionamento</vt:lpstr>
      <vt:lpstr>Modelo de Entidade-Relacionamento</vt:lpstr>
      <vt:lpstr>Modelo de Entidade-Relacionamento</vt:lpstr>
      <vt:lpstr>Modelo de Entidade-Relacionamento</vt:lpstr>
      <vt:lpstr>Modelo de Entidade-Relacionamento</vt:lpstr>
      <vt:lpstr>Modelo de Entidade-Relacionamento</vt:lpstr>
      <vt:lpstr>“Pé-de-galinha” (James Martin)</vt:lpstr>
      <vt:lpstr>“Pé-de-galinha” (James Martin)</vt:lpstr>
      <vt:lpstr>Normalização</vt:lpstr>
      <vt:lpstr>Normalização</vt:lpstr>
      <vt:lpstr>Normalização</vt:lpstr>
      <vt:lpstr>Normalização</vt:lpstr>
      <vt:lpstr>Normalização</vt:lpstr>
      <vt:lpstr>Normalização</vt:lpstr>
      <vt:lpstr>Normalização</vt:lpstr>
      <vt:lpstr>Normalização</vt:lpstr>
      <vt:lpstr>Normalização</vt:lpstr>
      <vt:lpstr>Links: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 seletivo Focus Consultoria – Cronograma</dc:title>
  <dc:creator>gabriel silva knust</dc:creator>
  <cp:lastModifiedBy>gabriel silva knust</cp:lastModifiedBy>
  <cp:revision>34</cp:revision>
  <dcterms:created xsi:type="dcterms:W3CDTF">2021-11-05T15:19:31Z</dcterms:created>
  <dcterms:modified xsi:type="dcterms:W3CDTF">2021-11-26T13:39:01Z</dcterms:modified>
</cp:coreProperties>
</file>